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6"/>
  </p:notesMasterIdLst>
  <p:sldIdLst>
    <p:sldId id="256" r:id="rId2"/>
    <p:sldId id="289" r:id="rId3"/>
    <p:sldId id="299" r:id="rId4"/>
    <p:sldId id="300" r:id="rId5"/>
    <p:sldId id="301" r:id="rId6"/>
    <p:sldId id="290" r:id="rId7"/>
    <p:sldId id="291" r:id="rId8"/>
    <p:sldId id="302" r:id="rId9"/>
    <p:sldId id="303" r:id="rId10"/>
    <p:sldId id="305" r:id="rId11"/>
    <p:sldId id="304" r:id="rId12"/>
    <p:sldId id="296" r:id="rId13"/>
    <p:sldId id="306" r:id="rId14"/>
    <p:sldId id="258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Gilroy Bold" panose="020B0803050000020004" pitchFamily="34" charset="0"/>
      <p:bold r:id="rId21"/>
    </p:embeddedFont>
    <p:embeddedFont>
      <p:font typeface="Gilroy Medium" panose="020B0503050000020004" pitchFamily="34" charset="0"/>
      <p:regular r:id="rId22"/>
    </p:embeddedFont>
    <p:embeddedFont>
      <p:font typeface="Verdana" panose="020B0604030504040204" pitchFamily="34" charset="0"/>
      <p:regular r:id="rId22"/>
      <p:bold r:id="rId22"/>
      <p:italic r:id="rId22"/>
      <p:boldItalic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38" autoAdjust="0"/>
    <p:restoredTop sz="95652"/>
  </p:normalViewPr>
  <p:slideViewPr>
    <p:cSldViewPr snapToGrid="0">
      <p:cViewPr varScale="1">
        <p:scale>
          <a:sx n="91" d="100"/>
          <a:sy n="91" d="100"/>
        </p:scale>
        <p:origin x="208" y="5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2:10:59.71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24575,'78'7'0,"-11"0"0,-58-7 0,1 2 0,-1-2 0,-1 1 0,3 0 0,-1 0 0,1-1 0,3 0 0,-1 0 0,-1 0 0,-5 0 0,6 0 0,-3 0 0,8 1 0,-3 0 0,-1 1 0,-1 0 0,-2-1 0,1 0 0,1 0 0,2 0 0,-2 0 0,-3 0 0,-2-1 0,0 0 0,5 0 0,3 0 0,5 0 0,1 0 0,0 0 0,-1 0 0,-4 1 0,0 0 0,-3 0 0,0 0 0,0-1 0,-1 0 0,-2 0 0,-2 0 0,3 0 0,-1 0 0,2 0 0,-3 0 0,-2 0 0,0 0 0,2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2:11:09.7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 24575,'38'0'0,"-6"0"0,-15 0 0,-2 0 0,0 0 0,-1-2 0,-1 1 0,-2 0 0,-1 1 0,0 0 0,0 0 0,1 0 0,-2 0 0,1 0 0,-1 0 0,1 0 0,1 0 0,1 0 0,2 0 0,0 0 0,1 0 0,1 0 0,1 1 0,1 1 0,0 0 0,-1 1 0,-2-1 0,-2 0 0,-2 0 0,0 0 0,-2 1 0,-1-1 0,4 0 0,-4-1 0,5-1 0,-4 0 0,0 0 0,0 0 0,0 0 0,1 0 0,1 0 0,3 0 0,1-1 0,3 0 0,1-2 0,1 1 0,2 1 0,-2-1 0,-1 1 0,1 0 0,0 0 0,2 1 0,-2 0 0,0 0 0,-3 0 0,-1 0 0,0 0 0,2 0 0,-1 0 0,-1-1 0,-1 0 0,0 0 0,1 0 0,0 1 0,0 0 0,1 0 0,0 0 0,0 0 0,1 0 0,0 0 0,1 1 0,-2 0 0,-2 1 0,-2-1 0,-1 0 0,0 0 0,2 1 0,0-1 0,0 1 0,0 0 0,-2-1 0,-1 0 0,-1-1 0,-1 1 0,1 0 0,0 0 0,-2-1 0,6 0 0,-6 0 0,6 0 0,-4 0 0,2 1 0,0-1 0,1 1 0,2 0 0,1 0 0,3-1 0,2 0 0,1 0 0,0 1 0,1 0 0,-2 1 0,2-1 0,-3-1 0,0 1 0,0 0 0,0 0 0,0 0 0,1-1 0,1 0 0,-1 0 0,2 1 0,0 1 0,1 1 0,0 1 0,1-2 0,1 1 0,2-1 0,-1 2 0,-1-1 0,-2 0 0,-2 0 0,-2-1 0,-2 1 0,-3-1 0,-3 1 0,-1-1 0,0-1 0,0 2 0,1 0 0,0 0 0,0 0 0,0-2 0,0 0 0,1-1 0,2 1 0,3 2 0,1 2 0,1 3 0,0 0 0,-2 0 0,-2-3 0,-1-1 0,1 0 0,0 1 0,1-1 0,1 3 0,0 1 0,-1-2 0,-2 0 0,0-2 0,0 0 0,-1 0 0,0 0 0,-3-2 0,-2-1 0,-36 3 0,16-4 0,-38 4 0,29-4 0,-8-1 0,4-1 0,0 1 0,-4 0 0,-1 1 0,-2 0 0,-2-1 0,0 0 0,2 0 0,4-1 0,2 2 0,3 0 0,0 0 0,1-1 0,1 0 0,0 0 0,-1 0 0,-1 0 0,0 0 0,-1 0 0,0 0 0,-1 0 0,1 1 0,-1-2 0,1 0 0,2 0 0,1-1 0,3 1 0,2 0 0,0 0 0,0 1 0,-1-1 0,1-1 0,-1 1 0,1 0 0,-1 0 0,-1-1 0,0 1 0,-1-1 0,-2 0 0,-1 2 0,-2-1 0,-2 0 0,-2-1 0,1-1 0,2 1 0,3 1 0,2-1 0,2 1 0,1 1 0,2-1 0,3 0 0,-1 1 0,2-1 0,0 1 0,-2-1 0,1 0 0,0 1 0,0-1 0,-1 1 0,-2 0 0,0-1 0,-2 1 0,-1-1 0,0-1 0,-1-1 0,-1 0 0,-1 0 0,1 0 0,1 1 0,0 1 0,2 0 0,1 0 0,1 1 0,3 0 0,3 1 0,2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2:12:55.3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238 378 24575,'79'9'0,"10"0"0,-32-4 0,1-1 0,-1 0 0,0 0 0,-3-1 0,-1 1 0,-2 1 0,0 1 0,-1-1 0,0 1 0,1 0 0,-1 0 0,49 5 0,-49-7 0,0-1 0,1 0 0,1-2 0,3 0 0,0-2 0,1 0 0,1-2 0,-1 1 0,1-1 0,-1 0 0,0 1 0,-2 1 0,0 0 0,-1 2 0,1 0 0,-4 1 0,0 1 0,45 2 0,-3 0 0,1-2 0,1 1 0,-3-1 0,-4 0 0,-10 1 0,-7-3 0,-9 1 0,-6-2 0,-1-1 0,7-3 0,7-1 0,5-2 0,1 0 0,-4 2 0,-4 1 0,-8-1 0,-3-2 0,4-2 0,3-1 0,-3-1 0,-2 2 0,-11-1 0,-10 2 0,-6 1 0,-8 0 0,-3-1 0,-5 0 0,-2 0 0,-4-1 0,-1 0 0,-3-1 0,-2 1 0,-3 1 0,-10 3 0,4 0 0,-8 5 0,3 0 0,-12 0 0,-17 2 0,-23-1 0,-25 1 0,36-1 0,-2 0 0,-6-2 0,-3 1 0,-4-2 0,-1 0 0,-3 0 0,1 0 0,0-1 0,2 0 0,3 1 0,2 0 0,4 0 0,2 1 0,2 1 0,1 0 0,4 1 0,0 1 0,-43 1 0,9 1 0,11 0 0,6 1 0,3-2 0,1-2 0,-5 1 0,-4 0 0,-6 2 0,-7 0 0,-5-1 0,41-1 0,0 0 0,-3-1 0,0 0 0,0 0 0,1 0 0,0-1 0,2 0 0,-42-2 0,9 0 0,13 0 0,16 1 0,12 1 0,12 0 0,7 0 0,6 0 0,4 1 0,5 0 0,2 5 0,3 3 0,-1 5 0,3 4 0,-2 1 0,1 0 0,1-2 0,1-3 0,0-2 0,0-2 0,0-1 0,1-1 0,1 0 0,4 1 0,2-4 0,0 0 0,2-2 0,1 4 0,5 4 0,7 7 0,10 5 0,10 3 0,6 1 0,-2-5 0,-9-5 0,-12-6 0,-10-5 0,-8-3 0,-2-2 0,6 0 0,-2 0 0,8 1 0,-3 0 0,2 2 0,0 1 0,2 0 0,1 1 0,1-1 0,2 0 0,-1 0 0,1-1 0,-2 0 0,0-1 0,2-1 0,0 0 0,2 0 0,4-1 0,3 0 0,1 0 0,1-1 0,-2 1 0,-2 0 0,-2 1 0,-3-1 0,-2-1 0,1 0 0,-1 0 0,3 0 0,0 0 0,1 0 0,1 0 0,-2 0 0,-1 0 0,1 0 0,2 1 0,2 1 0,1 0 0,0 1 0,-2-1 0,-3 0 0,-1-1 0,0 0 0,-1 0 0,-1 1 0,-1-1 0,-1 0 0,-2-1 0,-1 0 0,0 0 0,0 1 0,3 0 0,0 0 0,2 1 0,-1-2 0,3 0 0,3 0 0,3 1 0,4 0 0,1 1 0,1 0 0,-1 0 0,-2-1 0,0-1 0,2 0 0,1 0 0,1 0 0,2 0 0,0 1 0,2 0 0,-2 2 0,-2 1 0,-3-1 0,-2-1 0,1-1 0,3-1 0,1 0 0,4 0 0,-3 0 0,-3 0 0,-2 0 0,-3 1 0,1 1 0,1 2 0,0-1 0,-3 1 0,-6-1 0,-7-2 0,-5 0 0,-3-1 0,-49 10 0,-12-2 0,-2 2 0,-5 0 0,-5-2 0,-3 0 0,-12-1 0,-5-2 0,-13 0 0,-5-2-328,26-2 0,-1-1 0,-3 0 306,-5-2 1,-2-1 0,0 0 21,-2-2 0,0 0 0,1-2 0,5 0 0,1-1 0,2-1 0,8 1 0,3-1 0,2 0 0,-20-4 0,5 1 0,12 2 0,4 1 0,9 2 0,4 0 0,-37-4 0,20 3 983,13 1-918,8 2-65,0 1 0,1 1 0,-4 1 0,-4-1 0,-6 0 0,-2-1 0,-5-2 0,-7-3 0,-5-4 0,-9-1 0,-6-3 0,3-2 0,10 1 0,17 1 0,24 3 0,19 4 0,11 2 0,7-1 0,3-6 0,8-18 0,10-30 0,10-31 0,-10 41 0,0-1 0,0 2 0,-1 3 0,9-23 0,-8 29 0,-7 22 0,-4 15 0,2 28 0,0 5 0,7 36 0,8 8 0,12 20 0,-12-43 0,2-1 0,25 37 0,-2-20 0,-7-26 0,-3-29 0,0-45 0,2-43 0,-21 27 0,-2-3 0,-1 0 0,-2 1 0,5-27 0,-9 35 0,-5 30 0,-11 76 0,0-21 0,-5 39 0,6-52 0,3-14 0,-1-42 0,2 12 0,-3-23 0,3 28 0,1 8 0,18 32 0,18 2 0,11 16 0,12-8 0,-7-10 0,3 0 0,-1-2 0,-4-3 0,-7-4 0,-7-5 0,-5-3 0,-1-3 0,1 1 0,7 3 0,4 1 0,3 1 0,1 1 0,-2-1 0,1 0 0,-2-1 0,1 0 0,2 1 0,6 2 0,3 1 0,-1 0 0,1-2 0,-1-1 0,1-2 0,5 0 0,2-1 0,1-2 0,-3-1 0,0-1 0,-1 2 0,7 0 0,8 2 0,4 4 0,1-1 0,-5 1 0,-10-2 0,-7-5 0,-8-3 0,-4-2 0,0-2 0,-1 0 0,-1 0 0,-6 0 0,-8 0 0,-9 0 0,-9-1 0,-58-4 0,-1 3 0,-3 0 0,-5 1 0,4 1 0,-1 2 0,-11-1 0,-3 2 0,-8-1 0,-3 1 0,-8 1 0,-3-1 0,-3 1 0,0-1 0,3 0 0,2-1 0,5 0 0,2 0 0,11-1 0,2 1 0,8-1 0,2 1 0,5 0 0,2 0 0,-39 2 0,12-2 0,11 0 0,9 0 0,10-1 0,6 2 0,7-1 0,5 1 0,7-1 0,7 0 0,6 0 0,76 15 0,25 1 0,-3 0 0,9 1 0,-30-6 0,2-1 0,2 1-267,4 1 1,2 0 0,0 0 266,0 0 0,0-1 0,-1 0 0,-4-2 0,-2-1 0,-1 0 0,26 3 0,-4-2 0,-13-2 0,-4-2 0,-11 1 0,-4-2 0,37 4 0,-29-5 0,-15-2 0,-15-3 799,-9 0-799,-4 0 0,-3 0 0,-3-1 0,-3 0 0,-4-1 0,-5-1 0,-22-10 0,-28 2 0,-43-7 0,25 11 0,-6 3 0,-22-1 0,-6 1-230,25 2 0,-3 0 0,-1 1 230,-7 0 0,-1 0 0,0 1 0,-1 0 0,-1 1 0,1-1 0,7 1 0,1 0 0,1 0 0,-26 0 0,4 1 0,16 0 0,6 0 0,17-1 0,6 0 0,-17 1 0,28-1 0,24 0 0,12 1 690,37 8-690,21 3 0,-5-2 0,7 1 0,9 1 0,4 0 0,12 3 0,4 1 0,8 3 0,2 0 0,-3 0 0,-1-1 0,-9-2 0,-4 0 0,-14-3 0,-5-2 0,24 3 0,-27-5 0,-22-4 0,-15-5 0,-9-1 0,-67 3 0,-19 6 0,-1 0 0,-7 1 0,1 3 0,0 1 0,-4 1 0,0 1 0,7 0 0,4-2 0,11-2 0,5-1 0,-29 5 0,31-8 0,29-5 0,19-1 0,46 4 0,33-1 0,-6-3 0,9-1 0,15-3 0,5-2 0,-24 1 0,1-1 0,1 0 0,31-2 0,-3 0 0,-11 1 0,-5 0 0,-21 1 0,-7 1 0,16-2 0,-33 2 0,-23 1 0,-10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30T12:13:03.0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804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337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388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922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714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636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641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115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456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374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587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8391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01.06.2026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01.06.2026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01.06.2026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01.06.2026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01.06.2026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01.06.2026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01.06.2026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01.06.2026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8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customXml" Target="../ink/ink4.xml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Веб - </a:t>
            </a:r>
            <a:r>
              <a:rPr kumimoji="0" lang="ru-RU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райтинг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2727527"/>
            <a:ext cx="11887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Проектирование бизнес-процессов и структур в </a:t>
            </a:r>
            <a:r>
              <a:rPr lang="ru-RU" sz="2800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вебиндустрии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Лабораторная работа №1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>
              <a:defRPr/>
            </a:pPr>
            <a:r>
              <a:rPr lang="ru-RU" sz="2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Кафе с системой анализа использования ингредиентов в блюдах. </a:t>
            </a:r>
          </a:p>
          <a:p>
            <a:pPr algn="ctr"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409612" y="5786150"/>
            <a:ext cx="6480854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</a:t>
            </a:r>
            <a:r>
              <a:rPr lang="ru-RU" dirty="0">
                <a:latin typeface="Gilroy Medium" panose="00000600000000000000" charset="-52"/>
              </a:rPr>
              <a:t>Андронов Денис Андреевич</a:t>
            </a:r>
            <a:r>
              <a:rPr lang="ru-RU" sz="1800" dirty="0">
                <a:latin typeface="Gilroy Medium" panose="00000600000000000000" charset="-52"/>
              </a:rPr>
              <a:t>, группа </a:t>
            </a:r>
            <a:r>
              <a:rPr lang="ru-RU" dirty="0">
                <a:latin typeface="Gilroy Medium" panose="00000600000000000000" charset="-52"/>
              </a:rPr>
              <a:t>241-3210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2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Опи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сание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 видов деятельности организации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6EAC0-83DB-8E4B-AE47-7B4BE513E652}"/>
              </a:ext>
            </a:extLst>
          </p:cNvPr>
          <p:cNvSpPr txBox="1"/>
          <p:nvPr/>
        </p:nvSpPr>
        <p:spPr>
          <a:xfrm>
            <a:off x="130029" y="1638516"/>
            <a:ext cx="9878017" cy="394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7465" lvl="0" fontAlgn="base">
              <a:lnSpc>
                <a:spcPct val="107000"/>
              </a:lnSpc>
              <a:spcAft>
                <a:spcPts val="765"/>
              </a:spcAft>
              <a:buClr>
                <a:srgbClr val="000000"/>
              </a:buClr>
              <a:buSzPts val="1000"/>
            </a:pP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Прием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обработка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заказов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ru-RU" sz="1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R="608330" lvl="1" fontAlgn="base">
              <a:lnSpc>
                <a:spcPct val="150000"/>
              </a:lnSpc>
              <a:spcAft>
                <a:spcPts val="420"/>
              </a:spcAft>
              <a:buClr>
                <a:srgbClr val="000000"/>
              </a:buClr>
              <a:buSzPts val="1000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клиенты делают заказы через официантов, мобильное приложение или терминалы самообслуживания,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фиксация выбранных блюд в цифровом формате; </a:t>
            </a:r>
          </a:p>
          <a:p>
            <a:pPr marR="37465" lvl="0" fontAlgn="base">
              <a:lnSpc>
                <a:spcPct val="107000"/>
              </a:lnSpc>
              <a:spcAft>
                <a:spcPts val="1030"/>
              </a:spcAft>
              <a:buClr>
                <a:srgbClr val="000000"/>
              </a:buClr>
              <a:buSzPts val="1000"/>
            </a:pP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Приготовление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блюд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ru-RU" sz="1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R="608330" lvl="1" fontAlgn="base">
              <a:lnSpc>
                <a:spcPct val="175000"/>
              </a:lnSpc>
              <a:spcAft>
                <a:spcPts val="45"/>
              </a:spcAft>
              <a:buClr>
                <a:srgbClr val="000000"/>
              </a:buClr>
              <a:buSzPts val="1000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ручное приготовление блюд по стандартным рецептам,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учет ингредиентов, используемых в каждом заказе; </a:t>
            </a:r>
          </a:p>
          <a:p>
            <a:pPr marR="37465" lvl="0" fontAlgn="base">
              <a:lnSpc>
                <a:spcPct val="107000"/>
              </a:lnSpc>
              <a:spcAft>
                <a:spcPts val="740"/>
              </a:spcAft>
              <a:buClr>
                <a:srgbClr val="000000"/>
              </a:buClr>
              <a:buSzPts val="1000"/>
            </a:pP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Учет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анализ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ингредиентов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ru-RU" sz="1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R="608330" lvl="1" fontAlgn="base">
              <a:lnSpc>
                <a:spcPct val="150000"/>
              </a:lnSpc>
              <a:spcAft>
                <a:spcPts val="115"/>
              </a:spcAft>
              <a:buClr>
                <a:srgbClr val="000000"/>
              </a:buClr>
              <a:buSzPts val="1000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автоматическое списание ингредиентов из базы данных при приготовлении блюд, </a:t>
            </a:r>
            <a:r>
              <a:rPr lang="en-US" sz="10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формирование отчетов о расходе продуктов; </a:t>
            </a:r>
          </a:p>
          <a:p>
            <a:pPr marR="37465" lvl="0" fontAlgn="base">
              <a:lnSpc>
                <a:spcPct val="150000"/>
              </a:lnSpc>
              <a:spcAft>
                <a:spcPts val="995"/>
              </a:spcAft>
              <a:buClr>
                <a:srgbClr val="000000"/>
              </a:buClr>
              <a:buSzPts val="1000"/>
            </a:pPr>
            <a:r>
              <a:rPr lang="ru-RU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Планирование закупок: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R="37465" lvl="0" fontAlgn="base">
              <a:lnSpc>
                <a:spcPct val="150000"/>
              </a:lnSpc>
              <a:spcAft>
                <a:spcPts val="995"/>
              </a:spcAft>
              <a:buClr>
                <a:srgbClr val="000000"/>
              </a:buClr>
              <a:buSzPts val="1000"/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прогнозирование потребности в ингредиентах на основе исторических данных. </a:t>
            </a:r>
          </a:p>
        </p:txBody>
      </p:sp>
    </p:spTree>
    <p:extLst>
      <p:ext uri="{BB962C8B-B14F-4D97-AF65-F5344CB8AC3E}">
        <p14:creationId xmlns:p14="http://schemas.microsoft.com/office/powerpoint/2010/main" val="334676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3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Проблемная область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6EAC0-83DB-8E4B-AE47-7B4BE513E652}"/>
              </a:ext>
            </a:extLst>
          </p:cNvPr>
          <p:cNvSpPr txBox="1"/>
          <p:nvPr/>
        </p:nvSpPr>
        <p:spPr>
          <a:xfrm>
            <a:off x="130029" y="2088199"/>
            <a:ext cx="9878017" cy="111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37465" lvl="0" indent="-342900" fontAlgn="base">
              <a:lnSpc>
                <a:spcPct val="112000"/>
              </a:lnSpc>
              <a:spcAft>
                <a:spcPts val="6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Ручной учет ингредиентов приводит к ошибкам и перерасходу продуктов.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Отсутствие системы для анализа популярности блюд и их влияния на расход ингредиентов. </a:t>
            </a:r>
          </a:p>
          <a:p>
            <a:pPr marL="342900" marR="37465" lvl="0" indent="-342900" fontAlgn="base">
              <a:lnSpc>
                <a:spcPct val="175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Сложности в планировании закупок из-за недостатка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55048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4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Цели и задачи организации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6EAC0-83DB-8E4B-AE47-7B4BE513E652}"/>
              </a:ext>
            </a:extLst>
          </p:cNvPr>
          <p:cNvSpPr txBox="1"/>
          <p:nvPr/>
        </p:nvSpPr>
        <p:spPr>
          <a:xfrm>
            <a:off x="130029" y="1658159"/>
            <a:ext cx="9878017" cy="3098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7465" lvl="0" fontAlgn="base">
              <a:lnSpc>
                <a:spcPct val="175000"/>
              </a:lnSpc>
              <a:spcAft>
                <a:spcPts val="995"/>
              </a:spcAft>
              <a:buClr>
                <a:srgbClr val="000000"/>
              </a:buClr>
              <a:buSzPts val="1000"/>
            </a:pPr>
            <a:r>
              <a:rPr lang="ru-RU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Цели: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Снижение затрат на ингредиенты за счет точного учета и минимизации отходов.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Оптимизация меню на основе анализа востребованности блюд.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4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Улучшение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планирования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закупок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продуктов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  <a:endParaRPr lang="ru-RU" sz="1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350" marR="970915" indent="-6350">
              <a:lnSpc>
                <a:spcPct val="107000"/>
              </a:lnSpc>
              <a:spcAft>
                <a:spcPts val="760"/>
              </a:spcAft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Задачи</a:t>
            </a:r>
            <a:r>
              <a:rPr lang="en-US" sz="14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ru-RU" sz="140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Внедрение системы автоматического списания ингредиентов при приготовлении блюд.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Разработка отчетов для анализа расхода продуктов. </a:t>
            </a:r>
          </a:p>
          <a:p>
            <a:pPr marL="342900" marR="37465" lvl="0" indent="-342900" fontAlgn="base">
              <a:lnSpc>
                <a:spcPct val="175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Интеграция данных о заказах с системой учета ингредиентов.</a:t>
            </a:r>
          </a:p>
        </p:txBody>
      </p:sp>
    </p:spTree>
    <p:extLst>
      <p:ext uri="{BB962C8B-B14F-4D97-AF65-F5344CB8AC3E}">
        <p14:creationId xmlns:p14="http://schemas.microsoft.com/office/powerpoint/2010/main" val="644137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5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 err="1">
                <a:solidFill>
                  <a:prstClr val="black"/>
                </a:solidFill>
                <a:latin typeface="+mj-lt"/>
              </a:rPr>
              <a:t>Ц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ели и задачи проектирования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26EAC0-83DB-8E4B-AE47-7B4BE513E652}"/>
              </a:ext>
            </a:extLst>
          </p:cNvPr>
          <p:cNvSpPr txBox="1"/>
          <p:nvPr/>
        </p:nvSpPr>
        <p:spPr>
          <a:xfrm>
            <a:off x="130029" y="1658159"/>
            <a:ext cx="9878017" cy="291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37465" lvl="0" indent="-342900" fontAlgn="base">
              <a:lnSpc>
                <a:spcPct val="175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Цели проектирования: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68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Создание системы для отслеживания использования ингредиентов в режиме реального времени.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Автоматизация формирования отчетов для анализа и принятия решений. </a:t>
            </a:r>
          </a:p>
          <a:p>
            <a:pPr marL="6350" marR="970915" indent="-6350">
              <a:lnSpc>
                <a:spcPct val="107000"/>
              </a:lnSpc>
              <a:spcAft>
                <a:spcPts val="755"/>
              </a:spcAft>
            </a:pPr>
            <a:r>
              <a:rPr lang="en-US" sz="14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Задачи</a:t>
            </a:r>
            <a:r>
              <a:rPr lang="en-US" sz="14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проектирования</a:t>
            </a:r>
            <a:r>
              <a:rPr lang="en-US" sz="1400" b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ru-RU" sz="140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marR="37465" lvl="0" indent="-342900" fontAlgn="base">
              <a:lnSpc>
                <a:spcPct val="112000"/>
              </a:lnSpc>
              <a:spcAft>
                <a:spcPts val="67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Разработка базы данных рецептов с указанием норм ингредиентов на каждое блюдо,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Интеграция системы учета с кассовым ПО для автоматического списания продуктов,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Создание </a:t>
            </a:r>
            <a:r>
              <a:rPr lang="ru-RU" sz="1400" u="none" strike="noStrike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дашбордов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для визуализации данных: </a:t>
            </a:r>
            <a:r>
              <a:rPr lang="en-US" sz="1400" u="none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marR="37465" lvl="0" indent="-342900" fontAlgn="base">
              <a:lnSpc>
                <a:spcPct val="112000"/>
              </a:lnSpc>
              <a:spcAft>
                <a:spcPts val="995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ru-RU" sz="1400" u="none" strike="noStrike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топ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популярных блюд, 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динамика расхода ингредиентов, </a:t>
            </a:r>
            <a:r>
              <a:rPr lang="en-US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прогноз потребности в закупках; </a:t>
            </a:r>
          </a:p>
        </p:txBody>
      </p:sp>
    </p:spTree>
    <p:extLst>
      <p:ext uri="{BB962C8B-B14F-4D97-AF65-F5344CB8AC3E}">
        <p14:creationId xmlns:p14="http://schemas.microsoft.com/office/powerpoint/2010/main" val="3317278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6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Структурная схема организации</a:t>
            </a:r>
          </a:p>
        </p:txBody>
      </p:sp>
      <p:pic>
        <p:nvPicPr>
          <p:cNvPr id="7" name="Picture 1610">
            <a:extLst>
              <a:ext uri="{FF2B5EF4-FFF2-40B4-BE49-F238E27FC236}">
                <a16:creationId xmlns:a16="http://schemas.microsoft.com/office/drawing/2014/main" id="{C5A671CB-4093-A744-9BA2-6F90E873E3A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5050" y="1386172"/>
            <a:ext cx="9501447" cy="489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992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7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Схема организационной структуры</a:t>
            </a:r>
          </a:p>
        </p:txBody>
      </p:sp>
      <p:pic>
        <p:nvPicPr>
          <p:cNvPr id="8" name="Picture 1684">
            <a:extLst>
              <a:ext uri="{FF2B5EF4-FFF2-40B4-BE49-F238E27FC236}">
                <a16:creationId xmlns:a16="http://schemas.microsoft.com/office/drawing/2014/main" id="{D9476878-1C13-5B4F-B62C-8A99CB7648C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0029" y="1335025"/>
            <a:ext cx="9928371" cy="499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14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8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Контекстная диаграмма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IDEF0(AS-IS)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B0CBFE14-C2C5-6C4C-A498-015BE2852DE4}"/>
                  </a:ext>
                </a:extLst>
              </p14:cNvPr>
              <p14:cNvContentPartPr/>
              <p14:nvPr/>
            </p14:nvContentPartPr>
            <p14:xfrm>
              <a:off x="4753931" y="3455415"/>
              <a:ext cx="262440" cy="12960"/>
            </p14:xfrm>
          </p:contentPart>
        </mc:Choice>
        <mc:Fallback xmlns=""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B0CBFE14-C2C5-6C4C-A498-015BE2852D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91291" y="3392775"/>
                <a:ext cx="3880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98E3E258-251A-B847-A418-F1ADEF416A41}"/>
                  </a:ext>
                </a:extLst>
              </p14:cNvPr>
              <p14:cNvContentPartPr/>
              <p14:nvPr/>
            </p14:nvContentPartPr>
            <p14:xfrm>
              <a:off x="5015651" y="3443895"/>
              <a:ext cx="892800" cy="741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98E3E258-251A-B847-A418-F1ADEF416A4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52651" y="3381255"/>
                <a:ext cx="101844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94169B8F-215B-F547-BDCF-938B31B07E34}"/>
                  </a:ext>
                </a:extLst>
              </p14:cNvPr>
              <p14:cNvContentPartPr/>
              <p14:nvPr/>
            </p14:nvContentPartPr>
            <p14:xfrm>
              <a:off x="4567451" y="3528495"/>
              <a:ext cx="1419120" cy="56988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94169B8F-215B-F547-BDCF-938B31B07E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04451" y="3465855"/>
                <a:ext cx="1544760" cy="69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7BA55C65-45D4-8C44-9A2A-719FB656C4BE}"/>
                  </a:ext>
                </a:extLst>
              </p14:cNvPr>
              <p14:cNvContentPartPr/>
              <p14:nvPr/>
            </p14:nvContentPartPr>
            <p14:xfrm>
              <a:off x="4300691" y="3795255"/>
              <a:ext cx="360" cy="360"/>
            </p14:xfrm>
          </p:contentPart>
        </mc:Choice>
        <mc:Fallback xmlns=""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7BA55C65-45D4-8C44-9A2A-719FB656C4B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38051" y="3732255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7164D6-B2EA-4942-AB07-EDD9597B9F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83436" y="1559980"/>
            <a:ext cx="6650030" cy="421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9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 err="1">
                <a:solidFill>
                  <a:prstClr val="black"/>
                </a:solidFill>
                <a:latin typeface="+mj-lt"/>
              </a:rPr>
              <a:t>Д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екомпозиция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 контекстной диаграммы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738556-4B6F-FF46-994A-064F80BCC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913" y="1441139"/>
            <a:ext cx="7420627" cy="478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562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10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Контекстная диаграмма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IDEF0(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T</a:t>
            </a:r>
            <a:r>
              <a:rPr lang="en-US" sz="2000" b="1" dirty="0">
                <a:solidFill>
                  <a:prstClr val="black"/>
                </a:solidFill>
                <a:latin typeface="+mj-lt"/>
              </a:rPr>
              <a:t>O-BE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)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A7BC2A-E3B3-B74E-9D05-B9B397041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893" y="1187598"/>
            <a:ext cx="7162214" cy="482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8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5514" y="6344529"/>
            <a:ext cx="1221436" cy="453326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11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 err="1">
                <a:solidFill>
                  <a:prstClr val="black"/>
                </a:solidFill>
                <a:latin typeface="+mj-lt"/>
              </a:rPr>
              <a:t>Д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екомпозиция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 контекстной диаграммы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26D796-008C-DA46-B54B-4411D2AF0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165" y="1350498"/>
            <a:ext cx="6309670" cy="461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530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1956" y="5991019"/>
            <a:ext cx="1472125" cy="485844"/>
          </a:xfrm>
        </p:spPr>
        <p:txBody>
          <a:bodyPr/>
          <a:lstStyle/>
          <a:p>
            <a:fld id="{A01BE76D-E181-4177-862E-40D97C82BFEB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prstClr val="black"/>
                </a:solidFill>
                <a:latin typeface="+mj-lt"/>
              </a:rPr>
              <a:t>Диаграмма 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I</a:t>
            </a:r>
            <a:r>
              <a:rPr lang="en-US" sz="2000" b="1" dirty="0">
                <a:solidFill>
                  <a:prstClr val="black"/>
                </a:solidFill>
                <a:latin typeface="+mj-lt"/>
              </a:rPr>
              <a:t>DEF3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98BE82-D038-B042-8D15-0ED14233F3A1}"/>
              </a:ext>
            </a:extLst>
          </p:cNvPr>
          <p:cNvSpPr/>
          <p:nvPr/>
        </p:nvSpPr>
        <p:spPr>
          <a:xfrm>
            <a:off x="770021" y="1684421"/>
            <a:ext cx="489284" cy="144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955335-1220-F243-93EC-999800F5A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8212"/>
            <a:ext cx="12192000" cy="421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76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10800" y="5858933"/>
            <a:ext cx="1657350" cy="887034"/>
          </a:xfrm>
        </p:spPr>
        <p:txBody>
          <a:bodyPr/>
          <a:lstStyle/>
          <a:p>
            <a:fld id="{A01BE76D-E181-4177-862E-40D97C82BFEB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dirty="0">
                <a:solidFill>
                  <a:prstClr val="black"/>
                </a:solidFill>
                <a:latin typeface="+mj-lt"/>
              </a:rPr>
              <a:t>Диаграмма </a:t>
            </a:r>
            <a:r>
              <a:rPr lang="en-US" sz="2000" b="1" dirty="0">
                <a:solidFill>
                  <a:prstClr val="black"/>
                </a:solidFill>
                <a:latin typeface="+mj-lt"/>
              </a:rPr>
              <a:t>DFD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98BE82-D038-B042-8D15-0ED14233F3A1}"/>
              </a:ext>
            </a:extLst>
          </p:cNvPr>
          <p:cNvSpPr/>
          <p:nvPr/>
        </p:nvSpPr>
        <p:spPr>
          <a:xfrm>
            <a:off x="770021" y="1684421"/>
            <a:ext cx="489284" cy="144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Сформированное изображение: Система автоматизации кафе: DFD Уровень 1">
            <a:extLst>
              <a:ext uri="{FF2B5EF4-FFF2-40B4-BE49-F238E27FC236}">
                <a16:creationId xmlns:a16="http://schemas.microsoft.com/office/drawing/2014/main" id="{BB81AE5C-5D09-0F49-ADCC-51B7EFA71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295" y="888221"/>
            <a:ext cx="7511037" cy="563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756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ru-RU" sz="2800" dirty="0"/>
              <a:t>С п а с и б о    з а   в н и м а н и е 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749501" y="4601157"/>
            <a:ext cx="624989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Андронов Денис Андреевич, </a:t>
            </a:r>
            <a:r>
              <a:rPr lang="ru-RU" dirty="0">
                <a:latin typeface="Gilroy Medium" panose="00000600000000000000" charset="-52"/>
              </a:rPr>
              <a:t>группа 241-3210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2026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047010" y="2736502"/>
            <a:ext cx="96548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2800" b="1" kern="1200" dirty="0">
                <a:solidFill>
                  <a:srgbClr val="000000"/>
                </a:solidFill>
                <a:effectLst/>
                <a:latin typeface="Gilroy Bold" panose="020B0803050000020004" pitchFamily="34" charset="0"/>
                <a:ea typeface="+mn-ea"/>
                <a:cs typeface="+mn-cs"/>
              </a:rPr>
              <a:t>Проектирование бизнес-процессов и структур в </a:t>
            </a:r>
            <a:r>
              <a:rPr lang="ru-RU" sz="2800" b="1" kern="1200" dirty="0" err="1">
                <a:solidFill>
                  <a:srgbClr val="000000"/>
                </a:solidFill>
                <a:effectLst/>
                <a:latin typeface="Gilroy Bold" panose="020B0803050000020004" pitchFamily="34" charset="0"/>
                <a:ea typeface="+mn-ea"/>
                <a:cs typeface="+mn-cs"/>
              </a:rPr>
              <a:t>вебиндустрии</a:t>
            </a:r>
            <a:endParaRPr lang="ru-RU" sz="2800" dirty="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Лабораторная</a:t>
            </a:r>
            <a:r>
              <a:rPr lang="ru-RU" sz="2800" b="1" dirty="0">
                <a:solidFill>
                  <a:prstClr val="black"/>
                </a:solidFill>
                <a:latin typeface="Gilroy Bold" panose="00000800000000000000" charset="-52"/>
              </a:rPr>
              <a:t> работа №1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олитех" id="{706195B2-3338-754E-B596-794E89AA9D73}" vid="{BB8C50E2-D7A2-124C-B4D7-CE11DEE1589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9268</TotalTime>
  <Words>450</Words>
  <Application>Microsoft Macintosh PowerPoint</Application>
  <PresentationFormat>Широкоэкранный</PresentationFormat>
  <Paragraphs>92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Gilroy Bold</vt:lpstr>
      <vt:lpstr>Verdana</vt:lpstr>
      <vt:lpstr>Gilroy Medium</vt:lpstr>
      <vt:lpstr>Verdana </vt:lpstr>
      <vt:lpstr>Calibri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 п а с и б о    з а   в н и м а н и е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Булытова</dc:creator>
  <cp:lastModifiedBy>Microsoft Office User</cp:lastModifiedBy>
  <cp:revision>14</cp:revision>
  <dcterms:created xsi:type="dcterms:W3CDTF">2026-04-09T09:51:26Z</dcterms:created>
  <dcterms:modified xsi:type="dcterms:W3CDTF">2026-06-01T13:46:51Z</dcterms:modified>
</cp:coreProperties>
</file>