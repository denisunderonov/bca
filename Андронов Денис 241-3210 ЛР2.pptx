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9"/>
  </p:notesMasterIdLst>
  <p:sldIdLst>
    <p:sldId id="256" r:id="rId2"/>
    <p:sldId id="289" r:id="rId3"/>
    <p:sldId id="290" r:id="rId4"/>
    <p:sldId id="291" r:id="rId5"/>
    <p:sldId id="292" r:id="rId6"/>
    <p:sldId id="295" r:id="rId7"/>
    <p:sldId id="258" r:id="rId8"/>
  </p:sldIdLst>
  <p:sldSz cx="12192000" cy="6858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Gilroy Bold" panose="020B0803050000020004" pitchFamily="34" charset="0"/>
      <p:bold r:id="rId14"/>
    </p:embeddedFont>
    <p:embeddedFont>
      <p:font typeface="Gilroy Medium" panose="020B0503050000020004" pitchFamily="34" charset="0"/>
      <p:regular r:id="rId15"/>
    </p:embeddedFont>
    <p:embeddedFont>
      <p:font typeface="Verdana" panose="020B0604030504040204" pitchFamily="34" charset="0"/>
      <p:regular r:id="rId15"/>
      <p:bold r:id="rId15"/>
      <p:italic r:id="rId15"/>
      <p:boldItalic r:id="rId1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Средний стиль 3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020" autoAdjust="0"/>
    <p:restoredTop sz="95652"/>
  </p:normalViewPr>
  <p:slideViewPr>
    <p:cSldViewPr snapToGrid="0">
      <p:cViewPr>
        <p:scale>
          <a:sx n="163" d="100"/>
          <a:sy n="163" d="100"/>
        </p:scale>
        <p:origin x="-88" y="-4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3804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043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851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073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4667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30.05.2026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30.05.2026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30.05.2026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30.05.2026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30.05.2026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30.05.2026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30.05.2026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30.05.2026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23037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>
                <a:solidFill>
                  <a:prstClr val="black"/>
                </a:solidFill>
                <a:latin typeface="Gilroy Bold" panose="00000800000000000000" charset="-52"/>
              </a:rPr>
              <a:t>Проектирование бизнес-процессов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n-ea"/>
              <a:cs typeface="+mn-cs"/>
            </a:endParaRPr>
          </a:p>
          <a:p>
            <a:pPr algn="ctr"/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lang="ru-RU" dirty="0">
                <a:latin typeface="Gilroy Medium" panose="00000600000000000000" charset="-52"/>
              </a:rPr>
              <a:t>по направлению 09.03.01 Информатика и вычислительная техника</a:t>
            </a:r>
          </a:p>
          <a:p>
            <a:pPr algn="ctr"/>
            <a:r>
              <a:rPr lang="ru-RU" dirty="0">
                <a:latin typeface="Gilroy Medium" panose="00000600000000000000" charset="-52"/>
              </a:rPr>
              <a:t>Образовательная программа (профиль) «Веб-технологии»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152400" y="2727527"/>
            <a:ext cx="118872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Проектирование бизнес-процессов и структур в </a:t>
            </a:r>
            <a:r>
              <a:rPr lang="ru-RU" sz="2800" b="1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вебиндустрии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Лабораторная работа №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</a:p>
          <a:p>
            <a:pPr algn="ctr"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>
              <a:defRPr/>
            </a:pPr>
            <a:r>
              <a:rPr lang="ru-RU" sz="2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Кафе с системой анализа использования ингредиентов в блюдах. </a:t>
            </a:r>
          </a:p>
          <a:p>
            <a:pPr algn="ctr"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5409612" y="5786150"/>
            <a:ext cx="6480854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Студент:  </a:t>
            </a:r>
            <a:r>
              <a:rPr lang="ru-RU" dirty="0">
                <a:latin typeface="Gilroy Medium" panose="00000600000000000000" charset="-52"/>
              </a:rPr>
              <a:t>Андронов Денис Андреевич</a:t>
            </a:r>
            <a:r>
              <a:rPr lang="ru-RU" sz="1800" dirty="0">
                <a:latin typeface="Gilroy Medium" panose="00000600000000000000" charset="-52"/>
              </a:rPr>
              <a:t>, группа </a:t>
            </a:r>
            <a:r>
              <a:rPr lang="ru-RU" dirty="0">
                <a:latin typeface="Gilroy Medium" panose="00000600000000000000" charset="-52"/>
              </a:rPr>
              <a:t>241-3210</a:t>
            </a:r>
            <a:endParaRPr lang="ru-RU" sz="1800" dirty="0">
              <a:latin typeface="Gilroy Medium" panose="00000600000000000000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2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 err="1">
                <a:solidFill>
                  <a:prstClr val="black"/>
                </a:solidFill>
                <a:latin typeface="+mj-lt"/>
              </a:rPr>
              <a:t>Д</a:t>
            </a:r>
            <a:r>
              <a:rPr lang="ru-RU" sz="2000" b="1" dirty="0" err="1">
                <a:solidFill>
                  <a:prstClr val="black"/>
                </a:solidFill>
                <a:latin typeface="+mj-lt"/>
              </a:rPr>
              <a:t>иаграмма</a:t>
            </a:r>
            <a:r>
              <a:rPr lang="ru-RU" sz="2000" b="1" dirty="0">
                <a:solidFill>
                  <a:prstClr val="black"/>
                </a:solidFill>
                <a:latin typeface="+mj-lt"/>
              </a:rPr>
              <a:t> </a:t>
            </a:r>
            <a:r>
              <a:rPr lang="ru-RU" sz="2000" b="1" dirty="0" err="1">
                <a:solidFill>
                  <a:prstClr val="black"/>
                </a:solidFill>
                <a:latin typeface="+mj-lt"/>
              </a:rPr>
              <a:t>P</a:t>
            </a:r>
            <a:r>
              <a:rPr lang="en-US" sz="2000" b="1" dirty="0">
                <a:solidFill>
                  <a:prstClr val="black"/>
                </a:solidFill>
                <a:latin typeface="+mj-lt"/>
              </a:rPr>
              <a:t>CDs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973449-C3E3-9D42-A5A8-703A5BFC0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118" y="1415082"/>
            <a:ext cx="9018658" cy="47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767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3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dirty="0">
                <a:solidFill>
                  <a:prstClr val="black"/>
                </a:solidFill>
                <a:latin typeface="+mj-lt"/>
              </a:rPr>
              <a:t>Дерево функций Бизнес-процесса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pic>
        <p:nvPicPr>
          <p:cNvPr id="8" name="Picture 1379">
            <a:extLst>
              <a:ext uri="{FF2B5EF4-FFF2-40B4-BE49-F238E27FC236}">
                <a16:creationId xmlns:a16="http://schemas.microsoft.com/office/drawing/2014/main" id="{EC8DB8F9-F818-074B-BCDE-63BC33B87E1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774950" y="1485900"/>
            <a:ext cx="6642099" cy="448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398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4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dirty="0">
                <a:solidFill>
                  <a:prstClr val="black"/>
                </a:solidFill>
                <a:latin typeface="+mj-lt"/>
              </a:rPr>
              <a:t>Процессно-ориентированное функциональное дерево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pic>
        <p:nvPicPr>
          <p:cNvPr id="8" name="Picture 1453" descr="Загруженное изображение">
            <a:extLst>
              <a:ext uri="{FF2B5EF4-FFF2-40B4-BE49-F238E27FC236}">
                <a16:creationId xmlns:a16="http://schemas.microsoft.com/office/drawing/2014/main" id="{CDEDBA0B-566A-C949-A88F-4A242E642DE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57200" y="1447800"/>
            <a:ext cx="6794499" cy="4521979"/>
          </a:xfrm>
          <a:prstGeom prst="rect">
            <a:avLst/>
          </a:prstGeom>
        </p:spPr>
      </p:pic>
      <p:pic>
        <p:nvPicPr>
          <p:cNvPr id="10" name="Picture 1600">
            <a:extLst>
              <a:ext uri="{FF2B5EF4-FFF2-40B4-BE49-F238E27FC236}">
                <a16:creationId xmlns:a16="http://schemas.microsoft.com/office/drawing/2014/main" id="{BD2573EB-B2A6-EB4B-8BA7-4AB1F4BCAB2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251699" y="1603764"/>
            <a:ext cx="3467100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084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5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65884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dirty="0" err="1">
                <a:solidFill>
                  <a:prstClr val="black"/>
                </a:solidFill>
                <a:latin typeface="+mj-lt"/>
              </a:rPr>
              <a:t>U</a:t>
            </a:r>
            <a:r>
              <a:rPr lang="en-US" sz="2000" b="1" dirty="0">
                <a:solidFill>
                  <a:prstClr val="black"/>
                </a:solidFill>
                <a:latin typeface="+mj-lt"/>
              </a:rPr>
              <a:t>ML-</a:t>
            </a:r>
            <a:r>
              <a:rPr lang="en-US" sz="2000" b="1" dirty="0" err="1">
                <a:solidFill>
                  <a:prstClr val="black"/>
                </a:solidFill>
                <a:latin typeface="+mj-lt"/>
              </a:rPr>
              <a:t>ди</a:t>
            </a:r>
            <a:r>
              <a:rPr lang="ru-RU" sz="2000" b="1" dirty="0" err="1">
                <a:solidFill>
                  <a:prstClr val="black"/>
                </a:solidFill>
                <a:latin typeface="+mj-lt"/>
              </a:rPr>
              <a:t>аграмма</a:t>
            </a:r>
            <a:r>
              <a:rPr lang="ru-RU" sz="2000" b="1" dirty="0">
                <a:solidFill>
                  <a:prstClr val="black"/>
                </a:solidFill>
                <a:latin typeface="+mj-lt"/>
              </a:rPr>
              <a:t> прецедентов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pic>
        <p:nvPicPr>
          <p:cNvPr id="16" name="Picture 2" descr="Сформированное изображение: Диаграмма вариантов использования ресторана">
            <a:extLst>
              <a:ext uri="{FF2B5EF4-FFF2-40B4-BE49-F238E27FC236}">
                <a16:creationId xmlns:a16="http://schemas.microsoft.com/office/drawing/2014/main" id="{5C261C3B-F333-C94C-AE82-7242A9BE7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7814" y="1187599"/>
            <a:ext cx="6464017" cy="499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756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6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65884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dirty="0">
                <a:solidFill>
                  <a:prstClr val="black"/>
                </a:solidFill>
                <a:latin typeface="+mj-lt"/>
              </a:rPr>
              <a:t>Диаграмма классов системы автоматизации кафе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pic>
        <p:nvPicPr>
          <p:cNvPr id="1026" name="Picture 2" descr="UML class diagram for food service system">
            <a:extLst>
              <a:ext uri="{FF2B5EF4-FFF2-40B4-BE49-F238E27FC236}">
                <a16:creationId xmlns:a16="http://schemas.microsoft.com/office/drawing/2014/main" id="{3706BFDF-B92E-A647-A970-EADC2FC7E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041" y="1238543"/>
            <a:ext cx="6916499" cy="5187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5992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55688" y="705942"/>
            <a:ext cx="12502191" cy="428760"/>
          </a:xfrm>
        </p:spPr>
        <p:txBody>
          <a:bodyPr>
            <a:noAutofit/>
          </a:bodyPr>
          <a:lstStyle/>
          <a:p>
            <a:r>
              <a:rPr lang="ru-RU" sz="2800" dirty="0"/>
              <a:t>С п а с и б о    з а   в н и м а н и е !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E462F7-B2A7-4E4D-8555-1647177CEEFC}"/>
              </a:ext>
            </a:extLst>
          </p:cNvPr>
          <p:cNvSpPr txBox="1"/>
          <p:nvPr/>
        </p:nvSpPr>
        <p:spPr>
          <a:xfrm>
            <a:off x="2749501" y="4601157"/>
            <a:ext cx="6249896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Студент:  Андронов Денис Андреевич, </a:t>
            </a:r>
            <a:r>
              <a:rPr lang="ru-RU" dirty="0">
                <a:latin typeface="Gilroy Medium" panose="00000600000000000000" charset="-52"/>
              </a:rPr>
              <a:t>группа 241-3210</a:t>
            </a:r>
            <a:endParaRPr lang="ru-RU" sz="1800" dirty="0">
              <a:latin typeface="Gilroy Medium" panose="00000600000000000000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76724-8B7E-49E1-A5D8-0A86497396F2}"/>
              </a:ext>
            </a:extLst>
          </p:cNvPr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n-ea"/>
                <a:cs typeface="+mn-cs"/>
              </a:rPr>
              <a:t>2026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E841-C2B3-4680-B71A-C0E060431885}"/>
              </a:ext>
            </a:extLst>
          </p:cNvPr>
          <p:cNvSpPr txBox="1"/>
          <p:nvPr/>
        </p:nvSpPr>
        <p:spPr>
          <a:xfrm>
            <a:off x="1047010" y="2736502"/>
            <a:ext cx="965487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ru-RU" sz="2800" b="1" kern="1200" dirty="0">
                <a:solidFill>
                  <a:srgbClr val="000000"/>
                </a:solidFill>
                <a:effectLst/>
                <a:latin typeface="Gilroy Bold" panose="020B0803050000020004" pitchFamily="34" charset="0"/>
                <a:ea typeface="+mn-ea"/>
                <a:cs typeface="+mn-cs"/>
              </a:rPr>
              <a:t>Проектирование бизнес-процессов и структур в </a:t>
            </a:r>
            <a:r>
              <a:rPr lang="ru-RU" sz="2800" b="1" kern="1200" dirty="0" err="1">
                <a:solidFill>
                  <a:srgbClr val="000000"/>
                </a:solidFill>
                <a:effectLst/>
                <a:latin typeface="Gilroy Bold" panose="020B0803050000020004" pitchFamily="34" charset="0"/>
                <a:ea typeface="+mn-ea"/>
                <a:cs typeface="+mn-cs"/>
              </a:rPr>
              <a:t>вебиндустрии</a:t>
            </a:r>
            <a:endParaRPr lang="ru-RU" sz="2800" dirty="0">
              <a:effectLst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Лабораторная</a:t>
            </a:r>
            <a:r>
              <a:rPr lang="ru-RU" sz="2800" b="1" dirty="0">
                <a:solidFill>
                  <a:prstClr val="black"/>
                </a:solidFill>
                <a:latin typeface="Gilroy Bold" panose="00000800000000000000" charset="-52"/>
              </a:rPr>
              <a:t> работа №2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олитех" id="{706195B2-3338-754E-B596-794E89AA9D73}" vid="{BB8C50E2-D7A2-124C-B4D7-CE11DEE1589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Тема2</Template>
  <TotalTime>4740</TotalTime>
  <Words>139</Words>
  <Application>Microsoft Macintosh PowerPoint</Application>
  <PresentationFormat>Широкоэкранный</PresentationFormat>
  <Paragraphs>37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Arial</vt:lpstr>
      <vt:lpstr>Gilroy Bold</vt:lpstr>
      <vt:lpstr>Verdana</vt:lpstr>
      <vt:lpstr>Gilroy Medium</vt:lpstr>
      <vt:lpstr>Verdana </vt:lpstr>
      <vt:lpstr>Calibri</vt:lpstr>
      <vt:lpstr>Тема2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 п а с и б о    з а   в н и м а н и е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Мария Булытова</dc:creator>
  <cp:lastModifiedBy>Microsoft Office User</cp:lastModifiedBy>
  <cp:revision>10</cp:revision>
  <dcterms:created xsi:type="dcterms:W3CDTF">2026-04-09T09:51:26Z</dcterms:created>
  <dcterms:modified xsi:type="dcterms:W3CDTF">2026-06-01T13:15:49Z</dcterms:modified>
</cp:coreProperties>
</file>